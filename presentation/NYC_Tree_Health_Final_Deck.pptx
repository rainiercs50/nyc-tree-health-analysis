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Hook: NYC has far more street trees than inspectors. Our app estimates a tree's health from visible features and ranks trees by inspection priority.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Impact: triage and awareness. Support prioritization, not replace an arborist.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1 cleaned ~50k rows; ~76% Good. Imbalance is why accuracy alone is misleading.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upfront: proposal said classification; we refined to regression for a rankable score that also satisfies the required linear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RF R² ~0.09 — weak signal. Report RMSE/MAE not accuracy. Drivers: species, dbh, borough.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pages live. Page 3 is the centerpiece. Show model switch, SHAP, W&amp;B, conclusion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honesty — these are exactly the limitations the proposal asked us to acknowledge.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next steps + repo. Invite questions. See DEMO_SCRIPT.md for anticipated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280160"/>
            <a:ext cx="3840480" cy="384048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4206240"/>
            <a:ext cx="3108960" cy="310896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97BC62"/>
                </a:solidFill>
                <a:latin typeface="Calibri"/>
              </a:rPr>
              <a:t>INTRO TO DATA SCIENCE  ·  FINAL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78638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Cambria"/>
              </a:rPr>
              <a:t>NYC Street Tree</a:t>
            </a:r>
          </a:p>
          <a:p>
            <a:pPr algn="l">
              <a:spcAft>
                <a:spcPts val="1000"/>
              </a:spcAft>
            </a:pPr>
            <a:r>
              <a:rPr sz="5200" b="1" i="0">
                <a:solidFill>
                  <a:srgbClr val="97BC62"/>
                </a:solidFill>
                <a:latin typeface="Cambria"/>
              </a:rPr>
              <a:t>Health Predictor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F5F5F5"/>
                </a:solidFill>
                <a:latin typeface="Calibri"/>
              </a:rPr>
              <a:t>Predicting tree health from visible features to rank trees by inspection priority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5F5F5"/>
                </a:solidFill>
                <a:latin typeface="Calibri"/>
              </a:rPr>
              <a:t>Member 1 · Data &amp; EDA      Member 2 · Modeling &amp; Evaluation      Member 3 · App, Repo &amp;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2C5F2D"/>
                </a:solidFill>
                <a:latin typeface="Cambria"/>
              </a:rPr>
              <a:t>The problem we're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42A24"/>
                </a:solidFill>
                <a:latin typeface="Calibri"/>
              </a:rPr>
              <a:t>New York's street trees cool blocks, clean the air, and raise quality of life — but the city has far more trees than inspectors to check them.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42A24"/>
                </a:solidFill>
                <a:latin typeface="Calibri"/>
              </a:rPr>
              <a:t>We turn the 2015 Street Tree Census into a simple triage signal: a health score that ranks trees by how much attention they may need.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200400"/>
            <a:ext cx="3502152" cy="25603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19" y="3566160"/>
            <a:ext cx="640080" cy="640080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35661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4434840"/>
            <a:ext cx="2862072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C5F2D"/>
                </a:solidFill>
                <a:latin typeface="Cambria"/>
              </a:rPr>
              <a:t>Cooler, healthier blocks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42A24"/>
                </a:solidFill>
                <a:latin typeface="Calibri"/>
              </a:rPr>
              <a:t>Healthy trees lower heat and clean the air.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3200400"/>
            <a:ext cx="3502152" cy="25603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5152" y="3566160"/>
            <a:ext cx="640080" cy="640080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35661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4434840"/>
            <a:ext cx="2862072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C5F2D"/>
                </a:solidFill>
                <a:latin typeface="Cambria"/>
              </a:rPr>
              <a:t>Smarter prioritization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42A24"/>
                </a:solidFill>
                <a:latin typeface="Calibri"/>
              </a:rPr>
              <a:t>Send limited inspection time where it matters most.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3200400"/>
            <a:ext cx="3502152" cy="25603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30183" y="3566160"/>
            <a:ext cx="640080" cy="640080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3" y="35661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3" y="4434840"/>
            <a:ext cx="2862072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C5F2D"/>
                </a:solidFill>
                <a:latin typeface="Cambria"/>
              </a:rPr>
              <a:t>Public awareness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42A24"/>
                </a:solidFill>
                <a:latin typeface="Calibri"/>
              </a:rPr>
              <a:t>Help residents see what drives street-tree health.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2C5F2D"/>
                </a:solidFill>
                <a:latin typeface="Cambria"/>
              </a:rPr>
              <a:t>The data: 2015 NYC Street Tree Census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4937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2C5F2D"/>
                </a:solidFill>
                <a:latin typeface="Cambria"/>
              </a:rPr>
              <a:t>683K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B746B"/>
                </a:solidFill>
                <a:latin typeface="Calibri"/>
              </a:rPr>
              <a:t>trees in the full NYC Open Data census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61488"/>
            <a:ext cx="4937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2C5F2D"/>
                </a:solidFill>
                <a:latin typeface="Cambria"/>
              </a:rPr>
              <a:t>~50K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B746B"/>
                </a:solidFill>
                <a:latin typeface="Calibri"/>
              </a:rPr>
              <a:t>cleaned rows sampled for a fast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68496"/>
            <a:ext cx="4937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2C5F2D"/>
                </a:solidFill>
                <a:latin typeface="Cambria"/>
              </a:rPr>
              <a:t>76%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B746B"/>
                </a:solidFill>
                <a:latin typeface="Calibri"/>
              </a:rPr>
              <a:t>labeled “Good” — heavy class imbalance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21224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242A24"/>
                </a:solidFill>
                <a:latin typeface="Calibri"/>
              </a:rPr>
              <a:t>Health varies by borough, species, trunk size, and visible problems — the signals we feed the model.</a:t>
            </a:r>
          </a:p>
        </p:txBody>
      </p:sp>
      <p:pic>
        <p:nvPicPr>
          <p:cNvPr id="7" name="Picture 6" descr="01_health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669280" cy="40605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603504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746B"/>
                </a:solidFill>
                <a:latin typeface="Calibri"/>
              </a:rPr>
              <a:t>Health distribution of the sampled trees (Member 1, EDA).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2C5F2D"/>
                </a:solidFill>
                <a:latin typeface="Cambria"/>
              </a:rPr>
              <a:t>Our approach: from classification to a triage score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52120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4663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6B746B"/>
                </a:solidFill>
                <a:latin typeface="Cambria"/>
              </a:rPr>
              <a:t>Proposal: classification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42A24"/>
                </a:solidFill>
                <a:latin typeface="Calibri"/>
              </a:rPr>
              <a:t>Sort each tree into Good / Fair / Poor — three fixed buckets.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212080" cy="201168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1783080"/>
            <a:ext cx="4663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7BC62"/>
                </a:solidFill>
                <a:latin typeface="Cambria"/>
              </a:rPr>
              <a:t>What we built: regression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Predict a continuous health score (Poor 0 → Good 2). A score lets the city rank trees by priority and satisfies the required linear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023360"/>
            <a:ext cx="3502152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4315968"/>
            <a:ext cx="502920" cy="50292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4224528"/>
            <a:ext cx="240487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42A24"/>
                </a:solidFill>
                <a:latin typeface="Cambria"/>
              </a:rPr>
              <a:t>Poor ≈ 0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B746B"/>
                </a:solidFill>
                <a:latin typeface="Calibri"/>
              </a:rPr>
              <a:t>High priority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4023360"/>
            <a:ext cx="3502152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9432" y="4315968"/>
            <a:ext cx="502920" cy="502920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85232" y="4224528"/>
            <a:ext cx="240487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42A24"/>
                </a:solidFill>
                <a:latin typeface="Cambria"/>
              </a:rPr>
              <a:t>Fair ≈ 1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B746B"/>
                </a:solidFill>
                <a:latin typeface="Calibri"/>
              </a:rPr>
              <a:t>Medium priority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4023360"/>
            <a:ext cx="3502152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84464" y="4315968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0264" y="4224528"/>
            <a:ext cx="240487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42A24"/>
                </a:solidFill>
                <a:latin typeface="Cambria"/>
              </a:rPr>
              <a:t>Good ≈ 2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B746B"/>
                </a:solidFill>
                <a:latin typeface="Calibri"/>
              </a:rPr>
              <a:t>Low priority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150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242A24"/>
                </a:solidFill>
                <a:latin typeface="Calibri"/>
              </a:rPr>
              <a:t>Two switchable models: a Linear Regression baseline and a tuned Random Forest — explained with SHAP, tuned with Weights &amp; Biases.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2C5F2D"/>
                </a:solidFill>
                <a:latin typeface="Cambria"/>
              </a:rPr>
              <a:t>Model results — honestly reported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5760716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822959"/>
                <a:gridCol w="822959"/>
                <a:gridCol w="822959"/>
                <a:gridCol w="822959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45720" marT="27432" marB="27432" anchor="ctr"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 marL="73152" marR="45720" marT="27432" marB="27432" anchor="ctr"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73152" marR="45720" marT="27432" marB="27432" anchor="ctr"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marL="73152" marR="45720" marT="27432" marB="27432" anchor="ctr"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Mapped acc.*</a:t>
                      </a:r>
                    </a:p>
                  </a:txBody>
                  <a:tcPr marL="73152" marR="45720" marT="27432" marB="27432" anchor="ctr">
                    <a:solidFill>
                      <a:srgbClr val="2C5F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42A24"/>
                          </a:solidFill>
                          <a:latin typeface="Calibri"/>
                        </a:rPr>
                        <a:t>Linear Regression (baseline)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42A24"/>
                          </a:solidFill>
                          <a:latin typeface="Calibri"/>
                        </a:rPr>
                        <a:t>0.059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42A24"/>
                          </a:solidFill>
                          <a:latin typeface="Calibri"/>
                        </a:rPr>
                        <a:t>0.551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42A24"/>
                          </a:solidFill>
                          <a:latin typeface="Calibri"/>
                        </a:rPr>
                        <a:t>0.425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42A24"/>
                          </a:solidFill>
                          <a:latin typeface="Calibri"/>
                        </a:rPr>
                        <a:t>0.739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42A24"/>
                          </a:solidFill>
                          <a:latin typeface="Calibri"/>
                        </a:rPr>
                        <a:t>Random Forest (tuned)</a:t>
                      </a:r>
                    </a:p>
                  </a:txBody>
                  <a:tcPr marL="73152" marR="45720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42A24"/>
                          </a:solidFill>
                          <a:latin typeface="Calibri"/>
                        </a:rPr>
                        <a:t>0.087</a:t>
                      </a:r>
                    </a:p>
                  </a:txBody>
                  <a:tcPr marL="73152" marR="45720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42A24"/>
                          </a:solidFill>
                          <a:latin typeface="Calibri"/>
                        </a:rPr>
                        <a:t>0.543</a:t>
                      </a:r>
                    </a:p>
                  </a:txBody>
                  <a:tcPr marL="73152" marR="45720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42A24"/>
                          </a:solidFill>
                          <a:latin typeface="Calibri"/>
                        </a:rPr>
                        <a:t>0.416</a:t>
                      </a:r>
                    </a:p>
                  </a:txBody>
                  <a:tcPr marL="73152" marR="45720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42A24"/>
                          </a:solidFill>
                          <a:latin typeface="Calibri"/>
                        </a:rPr>
                        <a:t>0.738</a:t>
                      </a:r>
                    </a:p>
                  </a:txBody>
                  <a:tcPr marL="73152" marR="45720" marT="27432" marB="27432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383280"/>
            <a:ext cx="576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B746B"/>
                </a:solidFill>
                <a:latin typeface="Calibri"/>
              </a:rPr>
              <a:t>*Mapped accuracy rounds the score to the nearest band. ~76% Good makes accuracy look high, so we lead with RMSE/MAE and a confusion matrix.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26280"/>
            <a:ext cx="5760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C5F2D"/>
                </a:solidFill>
                <a:latin typeface="Cambria"/>
              </a:rPr>
              <a:t>What it means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42A24"/>
                </a:solidFill>
                <a:latin typeface="Calibri"/>
              </a:rPr>
              <a:t>The Random Forest wins, but the signal is weak (R² ≈ 0.09). Visible features alone don't determine health — so the score is a ranking aid, not a measurement.</a:t>
            </a:r>
          </a:p>
        </p:txBody>
      </p:sp>
      <p:pic>
        <p:nvPicPr>
          <p:cNvPr id="6" name="Picture 5" descr="13_shap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8760"/>
            <a:ext cx="4937760" cy="3086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61264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B746B"/>
                </a:solidFill>
                <a:latin typeface="Calibri"/>
              </a:rPr>
              <a:t>SHAP importance: species, diameter group, borough drive the 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2C5F2D"/>
                </a:solidFill>
                <a:latin typeface="Cambria"/>
              </a:rPr>
              <a:t>The app: a 6-page interactive tool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08760"/>
            <a:ext cx="35021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783080"/>
            <a:ext cx="530352" cy="530352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8308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728216"/>
            <a:ext cx="2359152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2C5F2D"/>
                </a:solidFill>
                <a:latin typeface="Cambria"/>
              </a:rPr>
              <a:t>Introduction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42A24"/>
                </a:solidFill>
                <a:latin typeface="Calibri"/>
              </a:rPr>
              <a:t>Framing, dataset, why it matters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1508760"/>
            <a:ext cx="35021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81144" y="1783080"/>
            <a:ext cx="530352" cy="530352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178308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85232" y="1728216"/>
            <a:ext cx="2359152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2C5F2D"/>
                </a:solidFill>
                <a:latin typeface="Cambria"/>
              </a:rPr>
              <a:t>Data Visualization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42A24"/>
                </a:solidFill>
                <a:latin typeface="Calibri"/>
              </a:rPr>
              <a:t>Distributions, borough &amp; species, 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508760"/>
            <a:ext cx="35021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66175" y="1783080"/>
            <a:ext cx="530352" cy="530352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5" y="178308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0264" y="1728216"/>
            <a:ext cx="2359152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2C5F2D"/>
                </a:solidFill>
                <a:latin typeface="Cambria"/>
              </a:rPr>
              <a:t>Health-Score Prediction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42A24"/>
                </a:solidFill>
                <a:latin typeface="Calibri"/>
              </a:rPr>
              <a:t>Enter a tree → score + priority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017520"/>
            <a:ext cx="35021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3291839"/>
            <a:ext cx="530352" cy="530352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291839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236976"/>
            <a:ext cx="2359152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2C5F2D"/>
                </a:solidFill>
                <a:latin typeface="Cambria"/>
              </a:rPr>
              <a:t>Explainable AI (SHAP)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42A24"/>
                </a:solidFill>
                <a:latin typeface="Calibri"/>
              </a:rPr>
              <a:t>What drives each prediction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5112" y="3017520"/>
            <a:ext cx="35021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81144" y="3291839"/>
            <a:ext cx="530352" cy="530352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3291839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2" y="3236976"/>
            <a:ext cx="2359152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2C5F2D"/>
                </a:solidFill>
                <a:latin typeface="Cambria"/>
              </a:rPr>
              <a:t>Hyperparameter Tuning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42A24"/>
                </a:solidFill>
                <a:latin typeface="Calibri"/>
              </a:rPr>
              <a:t>How the final model was chosen (W&amp;B)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0144" y="3017520"/>
            <a:ext cx="35021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66175" y="3291839"/>
            <a:ext cx="530352" cy="530352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6175" y="3291839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0264" y="3236976"/>
            <a:ext cx="2359152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2C5F2D"/>
                </a:solidFill>
                <a:latin typeface="Cambria"/>
              </a:rPr>
              <a:t>Conclusion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42A24"/>
                </a:solidFill>
                <a:latin typeface="Calibri"/>
              </a:rPr>
              <a:t>Interactive health map, impact, limits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00600"/>
            <a:ext cx="7040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42A24"/>
                </a:solidFill>
                <a:latin typeface="Calibri"/>
              </a:rPr>
              <a:t>Built with Streamlit. One command to run: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2C5F2D"/>
                </a:solidFill>
                <a:latin typeface="Courier New"/>
              </a:rPr>
              <a:t>streamlit run streamlit_app.py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B746B"/>
                </a:solidFill>
                <a:latin typeface="Calibri"/>
              </a:rPr>
              <a:t>Centerpiece is page 3: enter a tree's visible features and read its score and priority.</a:t>
            </a:r>
          </a:p>
        </p:txBody>
      </p:sp>
      <p:pic>
        <p:nvPicPr>
          <p:cNvPr id="28" name="Picture 27" descr="07_map_sample_by_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4800600"/>
            <a:ext cx="1980507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2C5F2D"/>
                </a:solidFill>
                <a:latin typeface="Cambria"/>
              </a:rPr>
              <a:t>Honest limitations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508760"/>
            <a:ext cx="102412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C5F2D"/>
                </a:solidFill>
                <a:latin typeface="Cambria"/>
              </a:rPr>
              <a:t>Weak signal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42A24"/>
                </a:solidFill>
                <a:latin typeface="Calibri"/>
              </a:rPr>
              <a:t>Best R² ≈ 0.09 — visible features don't determine health. Use the score to rank, not to diagnose.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06039"/>
            <a:ext cx="457200" cy="457200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560320"/>
            <a:ext cx="102412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C5F2D"/>
                </a:solidFill>
                <a:latin typeface="Cambria"/>
              </a:rPr>
              <a:t>Class imbalance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42A24"/>
                </a:solidFill>
                <a:latin typeface="Calibri"/>
              </a:rPr>
              <a:t>~76% Good inflates accuracy, so we report RMSE/MAE and a mapped confusion matrix.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657599"/>
            <a:ext cx="457200" cy="457200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65759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611879"/>
            <a:ext cx="102412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C5F2D"/>
                </a:solidFill>
                <a:latin typeface="Cambria"/>
              </a:rPr>
              <a:t>Snapshot data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42A24"/>
                </a:solidFill>
                <a:latin typeface="Calibri"/>
              </a:rPr>
              <a:t>The 2015 census is a one-time snapshot, not a live health feed.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709159"/>
            <a:ext cx="457200" cy="457200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70915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663440"/>
            <a:ext cx="102412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C5F2D"/>
                </a:solidFill>
                <a:latin typeface="Cambria"/>
              </a:rPr>
              <a:t>Correlation, not cause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42A24"/>
                </a:solidFill>
                <a:latin typeface="Calibri"/>
              </a:rPr>
              <a:t>Recorded problems are observational and may carry inspection or reporting bias.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943600"/>
            <a:ext cx="10881360" cy="658368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943600"/>
            <a:ext cx="10881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An educational triage and learning tool — not an official inspection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4754880"/>
            <a:ext cx="3291840" cy="329184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1188720"/>
            <a:ext cx="3474720" cy="347472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Next steps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691639"/>
            <a:ext cx="96012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97BC62"/>
                </a:solidFill>
                <a:latin typeface="Cambria"/>
              </a:rPr>
              <a:t>Join newer 311 &amp; health data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5F5F5"/>
                </a:solidFill>
                <a:latin typeface="Calibri"/>
              </a:rPr>
              <a:t>Test whether the patterns hold over time.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852928"/>
            <a:ext cx="548640" cy="548640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5292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807208"/>
            <a:ext cx="96012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97BC62"/>
                </a:solidFill>
                <a:latin typeface="Cambria"/>
              </a:rPr>
              <a:t>Add neighborhood features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5F5F5"/>
                </a:solidFill>
                <a:latin typeface="Calibri"/>
              </a:rPr>
              <a:t>Heat, traffic, and soil may carry more signal.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968496"/>
            <a:ext cx="548640" cy="548640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96849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922776"/>
            <a:ext cx="96012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97BC62"/>
                </a:solidFill>
                <a:latin typeface="Cambria"/>
              </a:rPr>
              <a:t>Deploy publicly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5F5F5"/>
                </a:solidFill>
                <a:latin typeface="Calibri"/>
              </a:rPr>
              <a:t>A Streamlit Cloud or Hugging Face Space for residents and city teams.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4864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Thank you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5F5F5"/>
                </a:solidFill>
                <a:latin typeface="Calibri"/>
              </a:rPr>
              <a:t>Notebooks, models, and the app live in our GitHub repo —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